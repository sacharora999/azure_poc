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640080"/>
            <a:ext cx="1188720" cy="109728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Excel Reporting Utility</a:t>
            </a:r>
          </a:p>
          <a:p>
            <a:pPr>
              <a:spcAft>
                <a:spcPts val="700"/>
              </a:spcAft>
              <a:defRPr sz="3700" b="1">
                <a:solidFill>
                  <a:srgbClr val="FFFFFF"/>
                </a:solidFill>
                <a:latin typeface="Aptos"/>
              </a:defRPr>
            </a:pPr>
            <a:r>
              <a:t>Technology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20040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300" b="0">
                <a:solidFill>
                  <a:srgbClr val="F9BD73"/>
                </a:solidFill>
                <a:latin typeface="Aptos"/>
              </a:defRPr>
            </a:pPr>
            <a:r>
              <a:t>VBA Macros  vs  Python + PySide6  vs  Streamlit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36592"/>
            <a:ext cx="10698480" cy="1033271"/>
          </a:xfrm>
          <a:prstGeom prst="round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965192"/>
            <a:ext cx="10149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RECOMMENDATION  •  Python + PySide6 desktop EXE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D5CED0"/>
                </a:solidFill>
                <a:latin typeface="Aptos"/>
              </a:defRPr>
            </a:pPr>
            <a:r>
              <a:t>PwC-inspired palette | Internal discussion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64008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A1733"/>
                </a:solidFill>
                <a:latin typeface="Aptos"/>
              </a:defRPr>
            </a:pPr>
            <a:r>
              <a:t>EXECUTIVE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9252A"/>
                </a:solidFill>
                <a:latin typeface="Aptos"/>
              </a:defRPr>
            </a:pPr>
            <a:r>
              <a:t>Decision in one minute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01384"/>
            <a:ext cx="11064240" cy="13716"/>
          </a:xfrm>
          <a:prstGeom prst="rect">
            <a:avLst/>
          </a:prstGeom>
          <a:solidFill>
            <a:srgbClr val="DE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5E62"/>
                </a:solidFill>
                <a:latin typeface="Aptos"/>
              </a:defRPr>
            </a:pPr>
            <a:r>
              <a:t>Excel reporting utility | 50 users | 7.5 MB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5E6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0927080" cy="1005840"/>
          </a:xfrm>
          <a:prstGeom prst="round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10332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Select PySide6 for a locally deployed Windows reporting utility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3502152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880360"/>
            <a:ext cx="64008" cy="256032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017520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9252A"/>
                </a:solidFill>
                <a:latin typeface="Aptos"/>
              </a:defRPr>
            </a:pPr>
            <a:r>
              <a:t>1  PySide6  |  Preferred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593591"/>
            <a:ext cx="309981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Native Windows interface; offline Excel processing; no VBA or Excel dependency for core report 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80360"/>
            <a:ext cx="3502152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2880360"/>
            <a:ext cx="64008" cy="2560320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44568" y="3017520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9252A"/>
                </a:solidFill>
                <a:latin typeface="Aptos"/>
              </a:defRPr>
            </a:pPr>
            <a:r>
              <a:t>2  Streamlit  |  Alternative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593591"/>
            <a:ext cx="309981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Best when central hosting, single-point updates, and shared access are more important than desktop operation.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880360"/>
            <a:ext cx="3502152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46720" y="2880360"/>
            <a:ext cx="64008" cy="2560320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47888" y="3017520"/>
            <a:ext cx="31181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9252A"/>
                </a:solidFill>
                <a:latin typeface="Aptos"/>
              </a:defRPr>
            </a:pPr>
            <a:r>
              <a:t>3  VBA  |  Conditional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593591"/>
            <a:ext cx="3099816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Best if business users must work inside Excel and require native interactive PivotTables.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79729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Decision assumes local/offline operation is desirable; confirm IT distribution and macro policy.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64008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A1733"/>
                </a:solidFill>
                <a:latin typeface="Aptos"/>
              </a:defRPr>
            </a:pPr>
            <a:r>
              <a:t>TECHNOLOGY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9252A"/>
                </a:solidFill>
                <a:latin typeface="Aptos"/>
              </a:defRPr>
            </a:pPr>
            <a:r>
              <a:t>Workload and evaluation assumptions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01384"/>
            <a:ext cx="11064240" cy="13716"/>
          </a:xfrm>
          <a:prstGeom prst="rect">
            <a:avLst/>
          </a:prstGeom>
          <a:solidFill>
            <a:srgbClr val="DE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5E62"/>
                </a:solidFill>
                <a:latin typeface="Aptos"/>
              </a:defRPr>
            </a:pPr>
            <a:r>
              <a:t>Excel reporting utility | 50 users | 7.5 MB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5E6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286207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2697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7288" y="1600200"/>
            <a:ext cx="816559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38728" y="1673352"/>
            <a:ext cx="8001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Working assumption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103120"/>
            <a:ext cx="2862072" cy="5440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176272"/>
            <a:ext cx="267919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9252A"/>
                </a:solidFill>
                <a:latin typeface="Aptos"/>
              </a:defRPr>
            </a:pPr>
            <a:r>
              <a:t>Monthly input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47288" y="2103120"/>
            <a:ext cx="8165592" cy="5440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47872" y="2176272"/>
            <a:ext cx="7982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9252A"/>
                </a:solidFill>
                <a:latin typeface="Aptos"/>
              </a:defRPr>
            </a:pPr>
            <a:r>
              <a:t>7.5 MB across multiple Excel workbooks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670048"/>
            <a:ext cx="2862072" cy="54406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2743200"/>
            <a:ext cx="267919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9252A"/>
                </a:solidFill>
                <a:latin typeface="Aptos"/>
              </a:defRPr>
            </a:pPr>
            <a:r>
              <a:t>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47288" y="2670048"/>
            <a:ext cx="8165592" cy="54406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47872" y="2743200"/>
            <a:ext cx="7982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9252A"/>
                </a:solidFill>
                <a:latin typeface="Aptos"/>
              </a:defRPr>
            </a:pPr>
            <a:r>
              <a:t>Approximately 50 internal Windows 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236976"/>
            <a:ext cx="2862072" cy="5440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3310128"/>
            <a:ext cx="267919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9252A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47288" y="3236976"/>
            <a:ext cx="8165592" cy="5440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547872" y="3310128"/>
            <a:ext cx="7982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9252A"/>
                </a:solidFill>
                <a:latin typeface="Aptos"/>
              </a:defRPr>
            </a:pPr>
            <a:r>
              <a:t>Three sample sales files; expandable to monthly files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803904"/>
            <a:ext cx="2862072" cy="54406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3877056"/>
            <a:ext cx="267919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9252A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47288" y="3803904"/>
            <a:ext cx="8165592" cy="54406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47872" y="3877056"/>
            <a:ext cx="7982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9252A"/>
                </a:solidFill>
                <a:latin typeface="Aptos"/>
              </a:defRPr>
            </a:pPr>
            <a:r>
              <a:t>Consolidated data, grouped summaries, formatted Excel reports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370831"/>
            <a:ext cx="2862072" cy="5440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" y="4443983"/>
            <a:ext cx="267919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9252A"/>
                </a:solidFill>
                <a:latin typeface="Aptos"/>
              </a:defRPr>
            </a:pPr>
            <a:r>
              <a:t>GUI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47288" y="4370831"/>
            <a:ext cx="8165592" cy="5440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547872" y="4443983"/>
            <a:ext cx="7982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9252A"/>
                </a:solidFill>
                <a:latin typeface="Aptos"/>
              </a:defRPr>
            </a:pPr>
            <a:r>
              <a:t>File selection, configuration, preview, progress, export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937760"/>
            <a:ext cx="2862072" cy="54406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" y="5010912"/>
            <a:ext cx="267919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29252A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47288" y="4937760"/>
            <a:ext cx="8165592" cy="54406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47872" y="5010912"/>
            <a:ext cx="798271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9252A"/>
                </a:solidFill>
                <a:latin typeface="Aptos"/>
              </a:defRPr>
            </a:pPr>
            <a:r>
              <a:t>Local execution preferred; central web deployment is an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64008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A1733"/>
                </a:solidFill>
                <a:latin typeface="Aptos"/>
              </a:defRPr>
            </a:pPr>
            <a:r>
              <a:t>TECHNOLOGY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9252A"/>
                </a:solidFill>
                <a:latin typeface="Aptos"/>
              </a:defRPr>
            </a:pPr>
            <a:r>
              <a:t>Technology options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01384"/>
            <a:ext cx="11064240" cy="13716"/>
          </a:xfrm>
          <a:prstGeom prst="rect">
            <a:avLst/>
          </a:prstGeom>
          <a:solidFill>
            <a:srgbClr val="DE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5E62"/>
                </a:solidFill>
                <a:latin typeface="Aptos"/>
              </a:defRPr>
            </a:pPr>
            <a:r>
              <a:t>Excel reporting utility | 50 users | 7.5 MB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5E6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281635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Capability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01568" y="1600200"/>
            <a:ext cx="263347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167335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VBA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1600200"/>
            <a:ext cx="281635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16733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PySide6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7967" y="1600200"/>
            <a:ext cx="272491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79407" y="1673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03120"/>
            <a:ext cx="281635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2176272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2103120"/>
            <a:ext cx="263347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02152" y="2176272"/>
            <a:ext cx="2450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Inside Excel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3328" y="2103120"/>
            <a:ext cx="281635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53912" y="2176272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Native Windows EXE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87967" y="2103120"/>
            <a:ext cx="272491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88551" y="217627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Browser-based web app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697479"/>
            <a:ext cx="2816352" cy="571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2770632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Where code runs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01568" y="2697479"/>
            <a:ext cx="2633472" cy="571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02152" y="2770632"/>
            <a:ext cx="2450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Excel process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2697479"/>
            <a:ext cx="2816352" cy="571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53912" y="2770632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User laptop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87967" y="2697479"/>
            <a:ext cx="2724912" cy="571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88551" y="277063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Localhost or hosted server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91839"/>
            <a:ext cx="281635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" y="3364991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Python needed by user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1568" y="3291839"/>
            <a:ext cx="263347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02152" y="3364991"/>
            <a:ext cx="2450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53328" y="3291839"/>
            <a:ext cx="281635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53912" y="3364991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No, when packaged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87967" y="3291839"/>
            <a:ext cx="272491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88551" y="3364991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No, if centrally hosted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886200"/>
            <a:ext cx="2816352" cy="571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3959352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Offline use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01568" y="3886200"/>
            <a:ext cx="2633472" cy="571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502152" y="3959352"/>
            <a:ext cx="2450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53328" y="3886200"/>
            <a:ext cx="2816352" cy="571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53912" y="3959352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87967" y="3886200"/>
            <a:ext cx="2724912" cy="571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88551" y="395935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Yes, if hosted locally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480560"/>
            <a:ext cx="281635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4553712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Excel required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01568" y="4480560"/>
            <a:ext cx="263347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502152" y="4553712"/>
            <a:ext cx="2450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53328" y="4480560"/>
            <a:ext cx="281635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53912" y="4553712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No for basic XLSX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87967" y="4480560"/>
            <a:ext cx="2724912" cy="57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988551" y="455371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No for basic XLSX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5074920"/>
            <a:ext cx="2816352" cy="571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7512" y="5148072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Native PivotTable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01568" y="5074920"/>
            <a:ext cx="2633472" cy="571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02152" y="5148072"/>
            <a:ext cx="2450591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53328" y="5074920"/>
            <a:ext cx="2816352" cy="571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153912" y="5148072"/>
            <a:ext cx="2633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Needs Excel automation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887967" y="5074920"/>
            <a:ext cx="2724912" cy="571500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88551" y="5148072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Needs Excel automation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64008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A1733"/>
                </a:solidFill>
                <a:latin typeface="Aptos"/>
              </a:defRPr>
            </a:pPr>
            <a:r>
              <a:t>TECHNOLOGY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9252A"/>
                </a:solidFill>
                <a:latin typeface="Aptos"/>
              </a:defRPr>
            </a:pPr>
            <a:r>
              <a:t>Processing architecture and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01384"/>
            <a:ext cx="11064240" cy="13716"/>
          </a:xfrm>
          <a:prstGeom prst="rect">
            <a:avLst/>
          </a:prstGeom>
          <a:solidFill>
            <a:srgbClr val="DE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5E62"/>
                </a:solidFill>
                <a:latin typeface="Aptos"/>
              </a:defRPr>
            </a:pPr>
            <a:r>
              <a:t>Excel reporting utility | 50 users | 7.5 MB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5E62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2044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64008" cy="3291840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828800"/>
            <a:ext cx="3136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9252A"/>
                </a:solidFill>
                <a:latin typeface="Aptos"/>
              </a:defRPr>
            </a:pPr>
            <a:r>
              <a:t>VBA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04872"/>
            <a:ext cx="311810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Excel workbook (.xlsm)</a:t>
            </a:r>
          </a:p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→ VBA import &amp; calculations</a:t>
            </a:r>
          </a:p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→ Excel PivotTable</a:t>
            </a:r>
          </a:p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→ Output workbook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91640"/>
            <a:ext cx="352044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691640"/>
            <a:ext cx="64008" cy="329184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828800"/>
            <a:ext cx="3136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9252A"/>
                </a:solidFill>
                <a:latin typeface="Aptos"/>
              </a:defRPr>
            </a:pPr>
            <a:r>
              <a:t>PySide6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404872"/>
            <a:ext cx="311810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Windows EXE GUI</a:t>
            </a:r>
          </a:p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→ Pandas transformation</a:t>
            </a:r>
          </a:p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→ OpenPyXL formatting</a:t>
            </a:r>
          </a:p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→ Output XLSX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91640"/>
            <a:ext cx="3520440" cy="3291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691640"/>
            <a:ext cx="64008" cy="3291840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828800"/>
            <a:ext cx="31363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9252A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04872"/>
            <a:ext cx="3118104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Browser upload</a:t>
            </a:r>
          </a:p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→ Python server + Pandas</a:t>
            </a:r>
          </a:p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→ OpenPyXL formatting</a:t>
            </a:r>
          </a:p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→ Download XLSX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625E62"/>
                </a:solidFill>
                <a:latin typeface="Aptos"/>
              </a:defRPr>
            </a:pPr>
            <a:r>
              <a:t>All three can comfortably handle 7.5 MB monthly; business rules and workbook complexity determine runtime.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64008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A1733"/>
                </a:solidFill>
                <a:latin typeface="Aptos"/>
              </a:defRPr>
            </a:pPr>
            <a:r>
              <a:t>TECHNOLOGY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9252A"/>
                </a:solidFill>
                <a:latin typeface="Aptos"/>
              </a:defRPr>
            </a:pPr>
            <a:r>
              <a:t>GUI and user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01384"/>
            <a:ext cx="11064240" cy="13716"/>
          </a:xfrm>
          <a:prstGeom prst="rect">
            <a:avLst/>
          </a:prstGeom>
          <a:solidFill>
            <a:srgbClr val="DE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5E62"/>
                </a:solidFill>
                <a:latin typeface="Aptos"/>
              </a:defRPr>
            </a:pPr>
            <a:r>
              <a:t>Excel reporting utility | 50 users | 7.5 MB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5E62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299923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Criterion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84448" y="1600200"/>
            <a:ext cx="263347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75887" y="167335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VBA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7" y="1600200"/>
            <a:ext cx="267919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7" y="16733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PySide6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33688" y="1600200"/>
            <a:ext cx="267919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25128" y="16733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03120"/>
            <a:ext cx="2999232" cy="562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2176272"/>
            <a:ext cx="281635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File picker / multi-file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84448" y="2103120"/>
            <a:ext cx="2633472" cy="562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85032" y="2176272"/>
            <a:ext cx="245059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7" y="2103120"/>
            <a:ext cx="2679192" cy="562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2176272"/>
            <a:ext cx="2496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33688" y="2103120"/>
            <a:ext cx="2679192" cy="562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34272" y="2176272"/>
            <a:ext cx="2496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688336"/>
            <a:ext cx="2999232" cy="562356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2761488"/>
            <a:ext cx="281635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Data preview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84448" y="2688336"/>
            <a:ext cx="2633472" cy="562356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85032" y="2761488"/>
            <a:ext cx="245059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Excel sheets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36207" y="2688336"/>
            <a:ext cx="2679192" cy="562356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36792" y="2761488"/>
            <a:ext cx="2496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Rich Qt tables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33688" y="2688336"/>
            <a:ext cx="2679192" cy="562356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34272" y="2761488"/>
            <a:ext cx="2496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Web dataframes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73552"/>
            <a:ext cx="2999232" cy="562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" y="3346704"/>
            <a:ext cx="281635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Progress / errors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84448" y="3273552"/>
            <a:ext cx="2633472" cy="562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85032" y="3346704"/>
            <a:ext cx="245059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Possible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6207" y="3273552"/>
            <a:ext cx="2679192" cy="562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36792" y="3346704"/>
            <a:ext cx="2496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33688" y="3273552"/>
            <a:ext cx="2679192" cy="562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34272" y="3346704"/>
            <a:ext cx="2496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Strong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3858768"/>
            <a:ext cx="2999232" cy="562356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3931920"/>
            <a:ext cx="281635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Custom branding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84448" y="3858768"/>
            <a:ext cx="2633472" cy="562356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85032" y="3931920"/>
            <a:ext cx="245059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Limited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36207" y="3858768"/>
            <a:ext cx="2679192" cy="562356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36792" y="3931920"/>
            <a:ext cx="2496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Extensive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3688" y="3858768"/>
            <a:ext cx="2679192" cy="562356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34272" y="3931920"/>
            <a:ext cx="2496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Good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443983"/>
            <a:ext cx="2999232" cy="562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4517136"/>
            <a:ext cx="281635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User familiarity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84448" y="4443983"/>
            <a:ext cx="2633472" cy="562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85032" y="4517136"/>
            <a:ext cx="245059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Highest for Excel users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7" y="4443983"/>
            <a:ext cx="2679192" cy="562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36792" y="4517136"/>
            <a:ext cx="2496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Native desktop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33688" y="4443983"/>
            <a:ext cx="2679192" cy="5623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034272" y="4517136"/>
            <a:ext cx="2496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Web browser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" y="5029200"/>
            <a:ext cx="2999232" cy="562356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67512" y="5102352"/>
            <a:ext cx="281635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Responsive processing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84448" y="5029200"/>
            <a:ext cx="2633472" cy="562356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85032" y="5102352"/>
            <a:ext cx="2450591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Needs careful VBA design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36207" y="5029200"/>
            <a:ext cx="2679192" cy="562356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336792" y="5102352"/>
            <a:ext cx="2496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Worker threads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33688" y="5029200"/>
            <a:ext cx="2679192" cy="562356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034272" y="5102352"/>
            <a:ext cx="249631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Server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64008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A1733"/>
                </a:solidFill>
                <a:latin typeface="Aptos"/>
              </a:defRPr>
            </a:pPr>
            <a:r>
              <a:t>TECHNOLOGY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9252A"/>
                </a:solidFill>
                <a:latin typeface="Aptos"/>
              </a:defRPr>
            </a:pPr>
            <a:r>
              <a:t>Deployment, security and licensing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01384"/>
            <a:ext cx="11064240" cy="13716"/>
          </a:xfrm>
          <a:prstGeom prst="rect">
            <a:avLst/>
          </a:prstGeom>
          <a:solidFill>
            <a:srgbClr val="DE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5E62"/>
                </a:solidFill>
                <a:latin typeface="Aptos"/>
              </a:defRPr>
            </a:pPr>
            <a:r>
              <a:t>Excel reporting utility | 50 users | 7.5 MB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5E62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277063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Topic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1600200"/>
            <a:ext cx="267919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8" y="16733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VBA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1600200"/>
            <a:ext cx="277063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44768" y="167335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PySide6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2248" y="1600200"/>
            <a:ext cx="277063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33688" y="167335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03120"/>
            <a:ext cx="2770632" cy="61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2176272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9252A"/>
                </a:solidFill>
                <a:latin typeface="Aptos"/>
              </a:defRPr>
            </a:pPr>
            <a:r>
              <a:t>50-user rollout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5848" y="2103120"/>
            <a:ext cx="2679192" cy="61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56432" y="2176272"/>
            <a:ext cx="2496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Distribute .xlsm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53328" y="2103120"/>
            <a:ext cx="2770632" cy="61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53912" y="2176272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Deploy packaged 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42248" y="2103120"/>
            <a:ext cx="2770632" cy="61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42832" y="2176272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Deploy one hosted instance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2743200"/>
            <a:ext cx="2770632" cy="61721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7512" y="2816352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9252A"/>
                </a:solidFill>
                <a:latin typeface="Aptos"/>
              </a:defRPr>
            </a:pPr>
            <a:r>
              <a:t>Updates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5848" y="2743200"/>
            <a:ext cx="2679192" cy="61721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56432" y="2816352"/>
            <a:ext cx="2496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Replace workbook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53328" y="2743200"/>
            <a:ext cx="2770632" cy="61721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53912" y="2816352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Update EXE/package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42248" y="2743200"/>
            <a:ext cx="2770632" cy="61721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42832" y="2816352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Update central server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383279"/>
            <a:ext cx="2770632" cy="61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" y="3456432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9252A"/>
                </a:solidFill>
                <a:latin typeface="Aptos"/>
              </a:defRPr>
            </a:pPr>
            <a:r>
              <a:t>Security concern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55848" y="3383279"/>
            <a:ext cx="2679192" cy="61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56432" y="3456432"/>
            <a:ext cx="2496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Macro execution policies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53328" y="3383279"/>
            <a:ext cx="2770632" cy="61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53912" y="3456432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EXE trust / signing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42248" y="3383279"/>
            <a:ext cx="2770632" cy="61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42832" y="3456432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Authentication + hosting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023359"/>
            <a:ext cx="2770632" cy="61721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67512" y="4096511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9252A"/>
                </a:solidFill>
                <a:latin typeface="Aptos"/>
              </a:defRPr>
            </a:pPr>
            <a:r>
              <a:t>License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55848" y="4023359"/>
            <a:ext cx="2679192" cy="61721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56432" y="4096511"/>
            <a:ext cx="2496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Excel license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53328" y="4023359"/>
            <a:ext cx="2770632" cy="61721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53912" y="4096511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Qt LGPL compliance or paid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842248" y="4023359"/>
            <a:ext cx="2770632" cy="617219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942832" y="4096511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Open-source core; hosting costs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4663440"/>
            <a:ext cx="2770632" cy="61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7512" y="4736592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29252A"/>
                </a:solidFill>
                <a:latin typeface="Aptos"/>
              </a:defRPr>
            </a:pPr>
            <a:r>
              <a:t>Data location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55848" y="4663440"/>
            <a:ext cx="2679192" cy="61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456432" y="4736592"/>
            <a:ext cx="2496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Local workbook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53328" y="4663440"/>
            <a:ext cx="2770632" cy="61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53912" y="4736592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Local machine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42248" y="4663440"/>
            <a:ext cx="2770632" cy="617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942832" y="4736592"/>
            <a:ext cx="258775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29252A"/>
                </a:solidFill>
                <a:latin typeface="Aptos"/>
              </a:defRPr>
            </a:pPr>
            <a:r>
              <a:t>Server if centrally hosted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64008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A1733"/>
                </a:solidFill>
                <a:latin typeface="Aptos"/>
              </a:defRPr>
            </a:pPr>
            <a:r>
              <a:t>TECHNOLOGY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9252A"/>
                </a:solidFill>
                <a:latin typeface="Aptos"/>
              </a:defRPr>
            </a:pPr>
            <a:r>
              <a:t>Illustrative weighted decision score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01384"/>
            <a:ext cx="11064240" cy="13716"/>
          </a:xfrm>
          <a:prstGeom prst="rect">
            <a:avLst/>
          </a:prstGeom>
          <a:solidFill>
            <a:srgbClr val="DE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5E62"/>
                </a:solidFill>
                <a:latin typeface="Aptos"/>
              </a:defRPr>
            </a:pPr>
            <a:r>
              <a:t>Excel reporting utility | 50 users | 7.5 MB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5E6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10881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625E62"/>
                </a:solidFill>
                <a:latin typeface="Aptos"/>
              </a:defRPr>
            </a:pPr>
            <a:r>
              <a:t>Scores are judgment-based (1 = weak, 5 = strong), not measured benchmarks.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901952"/>
            <a:ext cx="373075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1975104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Criterion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901952"/>
            <a:ext cx="121615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07407" y="1975104"/>
            <a:ext cx="1051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Weight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50407" y="1901952"/>
            <a:ext cx="199339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41847" y="1975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VBA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62088" y="1901952"/>
            <a:ext cx="199339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53527" y="197510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PySide6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73767" y="1901952"/>
            <a:ext cx="203911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65207" y="1975104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404872"/>
            <a:ext cx="373075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" y="2478024"/>
            <a:ext cx="35478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GUI &amp; usability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2404872"/>
            <a:ext cx="121615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16552" y="2478024"/>
            <a:ext cx="1033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50407" y="2404872"/>
            <a:ext cx="199339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50992" y="2478024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62088" y="2404872"/>
            <a:ext cx="199339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62671" y="2478024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73767" y="2404872"/>
            <a:ext cx="203911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74351" y="2478024"/>
            <a:ext cx="1856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880360"/>
            <a:ext cx="373075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7512" y="2953512"/>
            <a:ext cx="35478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Excel/report capability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2880360"/>
            <a:ext cx="121615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16552" y="2953512"/>
            <a:ext cx="1033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50407" y="2880360"/>
            <a:ext cx="199339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50992" y="2953512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62088" y="2880360"/>
            <a:ext cx="199339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62671" y="2953512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73767" y="2880360"/>
            <a:ext cx="203911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74351" y="2953512"/>
            <a:ext cx="1856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355848"/>
            <a:ext cx="373075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" y="3429000"/>
            <a:ext cx="35478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50-user maintainability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15968" y="3355848"/>
            <a:ext cx="121615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416552" y="3429000"/>
            <a:ext cx="1033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20%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50407" y="3355848"/>
            <a:ext cx="199339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650992" y="3429000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62088" y="3355848"/>
            <a:ext cx="199339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62671" y="3429000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73767" y="3355848"/>
            <a:ext cx="203911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674351" y="3429000"/>
            <a:ext cx="1856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3831335"/>
            <a:ext cx="373075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7512" y="3904487"/>
            <a:ext cx="35478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Offline &amp; independence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15968" y="3831335"/>
            <a:ext cx="121615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16552" y="3904487"/>
            <a:ext cx="1033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50407" y="3831335"/>
            <a:ext cx="199339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650992" y="3904487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62088" y="3831335"/>
            <a:ext cx="199339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662671" y="3904487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73767" y="3831335"/>
            <a:ext cx="203911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74351" y="3904487"/>
            <a:ext cx="1856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4306824"/>
            <a:ext cx="373075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67512" y="4379976"/>
            <a:ext cx="35478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Security / governance fit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15968" y="4306824"/>
            <a:ext cx="121615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416552" y="4379976"/>
            <a:ext cx="1033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15%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550407" y="4306824"/>
            <a:ext cx="199339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650992" y="4379976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62088" y="4306824"/>
            <a:ext cx="199339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62671" y="4379976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73767" y="4306824"/>
            <a:ext cx="2039112" cy="4526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674351" y="4379976"/>
            <a:ext cx="1856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4782312"/>
            <a:ext cx="373075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67512" y="4855464"/>
            <a:ext cx="354787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29252A"/>
                </a:solidFill>
                <a:latin typeface="Aptos"/>
              </a:defRPr>
            </a:pPr>
            <a:r>
              <a:t>Cost / implementation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15968" y="4782312"/>
            <a:ext cx="121615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416552" y="4855464"/>
            <a:ext cx="1033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10%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0407" y="4782312"/>
            <a:ext cx="199339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650992" y="4855464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62088" y="4782312"/>
            <a:ext cx="199339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662671" y="4855464"/>
            <a:ext cx="1810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573767" y="4782312"/>
            <a:ext cx="2039112" cy="452628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74351" y="4855464"/>
            <a:ext cx="1856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2925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4360" y="5486400"/>
            <a:ext cx="11018520" cy="667512"/>
          </a:xfrm>
          <a:prstGeom prst="round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04672" y="5614416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Weighted result  •  VBA 3.40/5   |   PySide6 4.15/5   |   Streamlit 3.65/5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64008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A1733"/>
                </a:solidFill>
                <a:latin typeface="Aptos"/>
              </a:defRPr>
            </a:pPr>
            <a:r>
              <a:t>TECHNOLOGY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9252A"/>
                </a:solidFill>
                <a:latin typeface="Aptos"/>
              </a:defRPr>
            </a:pPr>
            <a:r>
              <a:t>Risks and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01384"/>
            <a:ext cx="11064240" cy="13716"/>
          </a:xfrm>
          <a:prstGeom prst="rect">
            <a:avLst/>
          </a:prstGeom>
          <a:solidFill>
            <a:srgbClr val="DE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5E62"/>
                </a:solidFill>
                <a:latin typeface="Aptos"/>
              </a:defRPr>
            </a:pPr>
            <a:r>
              <a:t>Excel reporting utility | 50 users | 7.5 MB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5E6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600200"/>
            <a:ext cx="181051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733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5728" y="1600200"/>
            <a:ext cx="409651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87168" y="16733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Main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10528" y="1600200"/>
            <a:ext cx="5102352" cy="475488"/>
          </a:xfrm>
          <a:prstGeom prst="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1968" y="1673352"/>
            <a:ext cx="4937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Mitigation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03120"/>
            <a:ext cx="1810512" cy="7635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2176272"/>
            <a:ext cx="162763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9252A"/>
                </a:solidFill>
                <a:latin typeface="Aptos"/>
              </a:defRPr>
            </a:pPr>
            <a:r>
              <a:t>VBA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5728" y="2103120"/>
            <a:ext cx="4096512" cy="7635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496312" y="2176272"/>
            <a:ext cx="391363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9252A"/>
                </a:solidFill>
                <a:latin typeface="Aptos"/>
              </a:defRPr>
            </a:pPr>
            <a:r>
              <a:t>Macros may be blocked; fragile workbook logic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528" y="2103120"/>
            <a:ext cx="5102352" cy="7635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11112" y="2176272"/>
            <a:ext cx="491947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9252A"/>
                </a:solidFill>
                <a:latin typeface="Aptos"/>
              </a:defRPr>
            </a:pPr>
            <a:r>
              <a:t>Signed macros, protected templates, test controls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889503"/>
            <a:ext cx="1810512" cy="763524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2962656"/>
            <a:ext cx="162763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9252A"/>
                </a:solidFill>
                <a:latin typeface="Aptos"/>
              </a:defRPr>
            </a:pPr>
            <a:r>
              <a:t>PySide6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95728" y="2889503"/>
            <a:ext cx="4096512" cy="763524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96312" y="2962656"/>
            <a:ext cx="391363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9252A"/>
                </a:solidFill>
                <a:latin typeface="Aptos"/>
              </a:defRPr>
            </a:pPr>
            <a:r>
              <a:t>EXE rollout / Qt LGPL compliance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0528" y="2889503"/>
            <a:ext cx="5102352" cy="763524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1112" y="2962656"/>
            <a:ext cx="491947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9252A"/>
                </a:solidFill>
                <a:latin typeface="Aptos"/>
              </a:defRPr>
            </a:pPr>
            <a:r>
              <a:t>IT packaging, code signing, onedir build, legal review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675887"/>
            <a:ext cx="1810512" cy="7635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7512" y="3749039"/>
            <a:ext cx="162763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9252A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95728" y="3675887"/>
            <a:ext cx="4096512" cy="7635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496312" y="3749039"/>
            <a:ext cx="391363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9252A"/>
                </a:solidFill>
                <a:latin typeface="Aptos"/>
              </a:defRPr>
            </a:pPr>
            <a:r>
              <a:t>Server, user access and data governance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10528" y="3675887"/>
            <a:ext cx="5102352" cy="7635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11112" y="3749039"/>
            <a:ext cx="491947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9252A"/>
                </a:solidFill>
                <a:latin typeface="Aptos"/>
              </a:defRPr>
            </a:pPr>
            <a:r>
              <a:t>SSO/reverse proxy, hosting controls, upload limits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462272"/>
            <a:ext cx="1810512" cy="763524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7512" y="4535424"/>
            <a:ext cx="162763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9252A"/>
                </a:solidFill>
                <a:latin typeface="Aptos"/>
              </a:defRPr>
            </a:pPr>
            <a:r>
              <a:t>All options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95728" y="4462272"/>
            <a:ext cx="4096512" cy="763524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96312" y="4535424"/>
            <a:ext cx="391363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9252A"/>
                </a:solidFill>
                <a:latin typeface="Aptos"/>
              </a:defRPr>
            </a:pPr>
            <a:r>
              <a:t>Incorrect totals or schema changes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10528" y="4462272"/>
            <a:ext cx="5102352" cy="763524"/>
          </a:xfrm>
          <a:prstGeom prst="rect">
            <a:avLst/>
          </a:prstGeom>
          <a:solidFill>
            <a:srgbClr val="F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11112" y="4535424"/>
            <a:ext cx="491947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9252A"/>
                </a:solidFill>
                <a:latin typeface="Aptos"/>
              </a:defRPr>
            </a:pPr>
            <a:r>
              <a:t>Validation rules, reconciliation tests,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64008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A1733"/>
                </a:solidFill>
                <a:latin typeface="Aptos"/>
              </a:defRPr>
            </a:pPr>
            <a:r>
              <a:t>TECHNOLOGY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9252A"/>
                </a:solidFill>
                <a:latin typeface="Aptos"/>
              </a:defRPr>
            </a:pPr>
            <a:r>
              <a:t>Recommended implementation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01384"/>
            <a:ext cx="11064240" cy="13716"/>
          </a:xfrm>
          <a:prstGeom prst="rect">
            <a:avLst/>
          </a:prstGeom>
          <a:solidFill>
            <a:srgbClr val="DE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5E62"/>
                </a:solidFill>
                <a:latin typeface="Aptos"/>
              </a:defRPr>
            </a:pPr>
            <a:r>
              <a:t>Excel reporting utility | 50 users | 7.5 MB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5E6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1572768"/>
            <a:ext cx="576072" cy="576072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0664" y="16916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1591056"/>
            <a:ext cx="2971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9252A"/>
                </a:solidFill>
                <a:latin typeface="Aptos"/>
              </a:defRPr>
            </a:pPr>
            <a:r>
              <a:t>Confirm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27632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25E62"/>
                </a:solidFill>
                <a:latin typeface="Aptos"/>
              </a:defRPr>
            </a:pPr>
            <a:r>
              <a:t>Columns, rules, pivots, output templates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2404872"/>
            <a:ext cx="576072" cy="576072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" y="25237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423160"/>
            <a:ext cx="2971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9252A"/>
                </a:solidFill>
                <a:latin typeface="Aptos"/>
              </a:defRPr>
            </a:pPr>
            <a:r>
              <a:t>Build PySide6 MVP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459736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25E62"/>
                </a:solidFill>
                <a:latin typeface="Aptos"/>
              </a:defRPr>
            </a:pPr>
            <a:r>
              <a:t>Upload, preview, validation, process,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" y="3236976"/>
            <a:ext cx="576072" cy="576072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" y="33558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4752" y="3255264"/>
            <a:ext cx="2971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9252A"/>
                </a:solidFill>
                <a:latin typeface="Aptos"/>
              </a:defRPr>
            </a:pPr>
            <a:r>
              <a:t>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25E62"/>
                </a:solidFill>
                <a:latin typeface="Aptos"/>
              </a:defRPr>
            </a:pPr>
            <a:r>
              <a:t>Run same three files and full 7.5 MB dataset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" y="4069080"/>
            <a:ext cx="576072" cy="576072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" y="41879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087368"/>
            <a:ext cx="2971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9252A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123944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25E62"/>
                </a:solidFill>
                <a:latin typeface="Aptos"/>
              </a:defRPr>
            </a:pPr>
            <a:r>
              <a:t>Test with 5–10 users; review security and packaging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" y="4901184"/>
            <a:ext cx="576072" cy="576072"/>
          </a:xfrm>
          <a:prstGeom prst="round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0664" y="50200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4919472"/>
            <a:ext cx="2971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29252A"/>
                </a:solidFill>
                <a:latin typeface="Aptos"/>
              </a:defRPr>
            </a:pPr>
            <a:r>
              <a:t>Roll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956048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25E62"/>
                </a:solidFill>
                <a:latin typeface="Aptos"/>
              </a:defRPr>
            </a:pPr>
            <a:r>
              <a:t>Signed build, IT deployment, support and versioning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2011680" cy="64008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7A1733"/>
                </a:solidFill>
                <a:latin typeface="Aptos"/>
              </a:defRPr>
            </a:pPr>
            <a:r>
              <a:t>TECHNOLOGY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589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29252A"/>
                </a:solidFill>
                <a:latin typeface="Aptos"/>
              </a:defRPr>
            </a:pPr>
            <a:r>
              <a:t>Final recommendation and decision gates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01384"/>
            <a:ext cx="11064240" cy="13716"/>
          </a:xfrm>
          <a:prstGeom prst="rect">
            <a:avLst/>
          </a:prstGeom>
          <a:solidFill>
            <a:srgbClr val="DED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625E62"/>
                </a:solidFill>
                <a:latin typeface="Aptos"/>
              </a:defRPr>
            </a:pPr>
            <a:r>
              <a:t>Excel reporting utility | 50 users | 7.5 MB monthly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9672"/>
            <a:ext cx="502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625E6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10927080" cy="987552"/>
          </a:xfrm>
          <a:prstGeom prst="roundRect">
            <a:avLst/>
          </a:prstGeom>
          <a:solidFill>
            <a:srgbClr val="7A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874519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APPROVE: PySide6 + Pandas + OpenPyXL + PyInstaller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07792"/>
            <a:ext cx="5257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907792"/>
            <a:ext cx="64008" cy="246888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7" y="3044952"/>
            <a:ext cx="4873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9252A"/>
                </a:solidFill>
                <a:latin typeface="Aptos"/>
              </a:defRPr>
            </a:pPr>
            <a:r>
              <a:t>Choose PySide6 when…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621024"/>
            <a:ext cx="485546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Users need a Windows EXE, local/offline processing, and a modern interface. Ideal baseline for the stated workload.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907792"/>
            <a:ext cx="525780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2907792"/>
            <a:ext cx="64008" cy="2468880"/>
          </a:xfrm>
          <a:prstGeom prst="rect">
            <a:avLst/>
          </a:prstGeom>
          <a:solidFill>
            <a:srgbClr val="F7A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3044952"/>
            <a:ext cx="4873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9252A"/>
                </a:solidFill>
                <a:latin typeface="Aptos"/>
              </a:defRPr>
            </a:pPr>
            <a:r>
              <a:t>Reconsider Streamlit when…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621024"/>
            <a:ext cx="4855464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625E62"/>
                </a:solidFill>
                <a:latin typeface="Aptos"/>
              </a:defRPr>
            </a:pPr>
            <a:r>
              <a:t>Centralized updates, web access, SSO and shared processing outweigh offline desktop operation.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06440"/>
            <a:ext cx="107899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625E62"/>
                </a:solidFill>
                <a:latin typeface="Aptos"/>
              </a:defRPr>
            </a:pPr>
            <a:r>
              <a:t>Keep VBA as a targeted option for Excel-native interactive PivotTables or Excel-first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863</Words>
  <Application>Microsoft Office PowerPoint</Application>
  <PresentationFormat>Widescreen</PresentationFormat>
  <Paragraphs>236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Sachin Arora</dc:creator>
  <cp:keywords/>
  <dc:description>generated using python-pptx</dc:description>
  <cp:lastModifiedBy>Sachin Arora</cp:lastModifiedBy>
  <cp:revision>1</cp:revision>
  <dcterms:created xsi:type="dcterms:W3CDTF">2013-01-27T09:14:16Z</dcterms:created>
  <dcterms:modified xsi:type="dcterms:W3CDTF">2026-10-30T05:00:12Z</dcterms:modified>
  <cp:category/>
</cp:coreProperties>
</file>